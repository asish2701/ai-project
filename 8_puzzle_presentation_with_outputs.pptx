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6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0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8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5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8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7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9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0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6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8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4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76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9433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88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73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57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3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4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96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1011237"/>
          </a:xfrm>
        </p:spPr>
        <p:txBody>
          <a:bodyPr>
            <a:normAutofit fontScale="90000"/>
          </a:bodyPr>
          <a:lstStyle/>
          <a:p>
            <a:r>
              <a:rPr dirty="0"/>
              <a:t>8-Puzzle Intelligent Solver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2133600"/>
            <a:ext cx="7773308" cy="3124200"/>
          </a:xfrm>
        </p:spPr>
        <p:txBody>
          <a:bodyPr>
            <a:normAutofit/>
          </a:bodyPr>
          <a:lstStyle/>
          <a:p>
            <a:r>
              <a:rPr sz="2000" dirty="0"/>
              <a:t>Comparison of BFS, DFS, and A* (Misplaced &amp; Manhattan)</a:t>
            </a:r>
            <a:endParaRPr lang="en-IN" sz="2000" dirty="0"/>
          </a:p>
          <a:p>
            <a:endParaRPr lang="en-IN" sz="2000" dirty="0"/>
          </a:p>
          <a:p>
            <a:pPr algn="l">
              <a:lnSpc>
                <a:spcPct val="100000"/>
              </a:lnSpc>
            </a:pPr>
            <a:r>
              <a:rPr lang="en-IN" sz="1700" dirty="0"/>
              <a:t>Team members:</a:t>
            </a:r>
          </a:p>
          <a:p>
            <a:pPr algn="l">
              <a:lnSpc>
                <a:spcPct val="100000"/>
              </a:lnSpc>
            </a:pPr>
            <a:r>
              <a:rPr lang="en-IN" sz="1700" dirty="0"/>
              <a:t>1.Aaquib Alam</a:t>
            </a:r>
          </a:p>
          <a:p>
            <a:pPr algn="l">
              <a:lnSpc>
                <a:spcPct val="100000"/>
              </a:lnSpc>
            </a:pPr>
            <a:r>
              <a:rPr lang="en-IN" sz="1700" dirty="0"/>
              <a:t>2.Ashraf Ali</a:t>
            </a:r>
          </a:p>
          <a:p>
            <a:pPr algn="l">
              <a:lnSpc>
                <a:spcPct val="100000"/>
              </a:lnSpc>
            </a:pPr>
            <a:r>
              <a:rPr lang="en-IN" sz="1700" dirty="0"/>
              <a:t>3. Asish Sharma</a:t>
            </a:r>
          </a:p>
          <a:p>
            <a:pPr algn="l">
              <a:lnSpc>
                <a:spcPct val="100000"/>
              </a:lnSpc>
            </a:pPr>
            <a:r>
              <a:rPr lang="en-IN" sz="1700" dirty="0"/>
              <a:t>4. Pratap Singh</a:t>
            </a: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674" y="944845"/>
            <a:ext cx="4134307" cy="634181"/>
          </a:xfrm>
        </p:spPr>
        <p:txBody>
          <a:bodyPr>
            <a:normAutofit/>
          </a:bodyPr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04" y="1453639"/>
            <a:ext cx="5941596" cy="2190801"/>
          </a:xfrm>
        </p:spPr>
        <p:txBody>
          <a:bodyPr/>
          <a:lstStyle/>
          <a:p>
            <a:r>
              <a:rPr dirty="0"/>
              <a:t>The 8-puzzle problem</a:t>
            </a:r>
          </a:p>
          <a:p>
            <a:pPr lvl="1"/>
            <a:r>
              <a:rPr dirty="0"/>
              <a:t>- A sliding-tile puzzle on a 3x3 board</a:t>
            </a:r>
          </a:p>
          <a:p>
            <a:pPr lvl="1"/>
            <a:r>
              <a:rPr dirty="0"/>
              <a:t>- Search problem: state space, moves, path cost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64004" y="3227785"/>
            <a:ext cx="5310530" cy="791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Platforms &amp; Tools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4004" y="3836143"/>
            <a:ext cx="6236564" cy="2274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Development environment</a:t>
            </a:r>
          </a:p>
          <a:p>
            <a:pPr lvl="1"/>
            <a:r>
              <a:rPr lang="en-US" dirty="0"/>
              <a:t>- SWI-Prolog for implementation and execution</a:t>
            </a:r>
          </a:p>
          <a:p>
            <a:pPr lvl="1"/>
            <a:r>
              <a:rPr lang="en-US" dirty="0"/>
              <a:t>- VS Code for editing and running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332" y="1820761"/>
            <a:ext cx="7765322" cy="3695136"/>
          </a:xfrm>
        </p:spPr>
        <p:txBody>
          <a:bodyPr/>
          <a:lstStyle/>
          <a:p>
            <a:r>
              <a:rPr dirty="0"/>
              <a:t>Key components</a:t>
            </a:r>
          </a:p>
          <a:p>
            <a:pPr lvl="1"/>
            <a:r>
              <a:rPr dirty="0"/>
              <a:t>- State representation: list of 9 integers (0 = blank)</a:t>
            </a:r>
          </a:p>
          <a:p>
            <a:pPr lvl="1"/>
            <a:r>
              <a:rPr dirty="0"/>
              <a:t>- Move generation: up/down/left/right swaps</a:t>
            </a:r>
          </a:p>
          <a:p>
            <a:pPr lvl="1"/>
            <a:r>
              <a:rPr dirty="0"/>
              <a:t>- Algorithms implemented: BFS, DFS, A*</a:t>
            </a:r>
          </a:p>
          <a:p>
            <a:pPr lvl="1"/>
            <a:r>
              <a:rPr dirty="0"/>
              <a:t>- Heuristics: Misplaced tiles, Manhattan distance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7E22D7-98FE-EA50-FA3E-8F98B97EF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44" y="4241311"/>
            <a:ext cx="2282872" cy="2007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290054"/>
            <a:ext cx="8006369" cy="639096"/>
          </a:xfrm>
        </p:spPr>
        <p:txBody>
          <a:bodyPr/>
          <a:lstStyle/>
          <a:p>
            <a:r>
              <a:rPr dirty="0"/>
              <a:t>Results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6669" y="970272"/>
            <a:ext cx="6714352" cy="135997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Sample run (start: [1,2,3,4,5,6,0,7,8])</a:t>
            </a:r>
          </a:p>
          <a:p>
            <a:pPr lvl="1"/>
            <a:r>
              <a:rPr dirty="0"/>
              <a:t>- A* (Manhattan): moves = 2, expanded = 6</a:t>
            </a:r>
          </a:p>
          <a:p>
            <a:pPr lvl="1"/>
            <a:r>
              <a:rPr dirty="0"/>
              <a:t>- BFS: moves = 2, expanded = (depends on ordering)</a:t>
            </a:r>
          </a:p>
          <a:p>
            <a:pPr lvl="1"/>
            <a:r>
              <a:rPr dirty="0"/>
              <a:t>- DFS: may find a solution but not guaranteed shortest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62842A-8C6D-55FF-0620-C6E41C64E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42" y="2543275"/>
            <a:ext cx="6037006" cy="40246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Queries and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Executed queries and their outputs</a:t>
            </a:r>
          </a:p>
          <a:p>
            <a:pPr lvl="1"/>
            <a:r>
              <a:rPr dirty="0"/>
              <a:t>- A* (Manhattan): </a:t>
            </a:r>
            <a:r>
              <a:rPr dirty="0" err="1"/>
              <a:t>goal_state</a:t>
            </a:r>
            <a:r>
              <a:rPr dirty="0"/>
              <a:t>(Goal), </a:t>
            </a:r>
            <a:r>
              <a:rPr dirty="0" err="1"/>
              <a:t>solve_astar</a:t>
            </a:r>
            <a:r>
              <a:rPr dirty="0"/>
              <a:t>([1,2,3,4,5,6,0,7,8], Goal, </a:t>
            </a:r>
            <a:r>
              <a:rPr dirty="0" err="1"/>
              <a:t>manhattan</a:t>
            </a:r>
            <a:r>
              <a:rPr dirty="0"/>
              <a:t>, Results)</a:t>
            </a:r>
          </a:p>
          <a:p>
            <a:pPr lvl="2"/>
            <a:r>
              <a:rPr dirty="0"/>
              <a:t>  Output: result{path:[[1,2,3,4,5,6,0,7,8],[1,2,3,4,5,6,7,0,8],[1,2,3,4,5,6,7,8,0]],</a:t>
            </a:r>
            <a:r>
              <a:rPr dirty="0" err="1"/>
              <a:t>stats:stats</a:t>
            </a:r>
            <a:r>
              <a:rPr dirty="0"/>
              <a:t>{expanded:6,moves:2,runtime_ms:0}}</a:t>
            </a:r>
          </a:p>
          <a:p>
            <a:pPr lvl="1"/>
            <a:r>
              <a:rPr dirty="0"/>
              <a:t>- A* (Misplaced): </a:t>
            </a:r>
            <a:r>
              <a:rPr dirty="0" err="1"/>
              <a:t>goal_state</a:t>
            </a:r>
            <a:r>
              <a:rPr dirty="0"/>
              <a:t>(Goal), </a:t>
            </a:r>
            <a:r>
              <a:rPr dirty="0" err="1"/>
              <a:t>solve_astar</a:t>
            </a:r>
            <a:r>
              <a:rPr dirty="0"/>
              <a:t>([1,2,3,4,5,6,0,7,8], Goal, misplaced, Results)</a:t>
            </a:r>
          </a:p>
          <a:p>
            <a:pPr lvl="2"/>
            <a:r>
              <a:rPr dirty="0"/>
              <a:t>  Output: result{path:[[1,2,3,4,5,6,0,7,8],[1,2,3,4,5,6,7,0,8],[1,2,3,4,5,6,7,8,0]],</a:t>
            </a:r>
            <a:r>
              <a:rPr dirty="0" err="1"/>
              <a:t>stats:stats</a:t>
            </a:r>
            <a:r>
              <a:rPr dirty="0"/>
              <a:t>{expanded:6,moves:2,runtime_ms:0}}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05B3-134B-4CA7-181C-A62C83B2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Queries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CB775-400A-5D03-2D15-D200BD448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IN" dirty="0"/>
              <a:t>- BFS: </a:t>
            </a:r>
            <a:r>
              <a:rPr lang="en-IN" dirty="0" err="1"/>
              <a:t>goal_state</a:t>
            </a:r>
            <a:r>
              <a:rPr lang="en-IN" dirty="0"/>
              <a:t>(Goal), </a:t>
            </a:r>
            <a:r>
              <a:rPr lang="en-IN" dirty="0" err="1"/>
              <a:t>solve_bfs</a:t>
            </a:r>
            <a:r>
              <a:rPr lang="en-IN" dirty="0"/>
              <a:t>([1,2,3,4,5,6,0,7,8], Goal, Results)</a:t>
            </a:r>
          </a:p>
          <a:p>
            <a:pPr lvl="2"/>
            <a:r>
              <a:rPr lang="en-IN" dirty="0"/>
              <a:t>  Output: result{path:[[1,2,3,4,5,6,0,7,8],[1,2,3,4,5,6,7,0,8],[1,2,3,4,5,6,7,8,0]],</a:t>
            </a:r>
            <a:r>
              <a:rPr lang="en-IN" dirty="0" err="1"/>
              <a:t>stats:stats</a:t>
            </a:r>
            <a:r>
              <a:rPr lang="en-IN" dirty="0"/>
              <a:t>{expanded:19,moves:2,runtime_ms:0}}</a:t>
            </a:r>
          </a:p>
          <a:p>
            <a:pPr lvl="1"/>
            <a:r>
              <a:rPr lang="en-IN" dirty="0"/>
              <a:t>- DFS: </a:t>
            </a:r>
            <a:r>
              <a:rPr lang="en-IN" dirty="0" err="1"/>
              <a:t>goal_state</a:t>
            </a:r>
            <a:r>
              <a:rPr lang="en-IN" dirty="0"/>
              <a:t>(Goal), </a:t>
            </a:r>
            <a:r>
              <a:rPr lang="en-IN" dirty="0" err="1"/>
              <a:t>solve_dfs</a:t>
            </a:r>
            <a:r>
              <a:rPr lang="en-IN" dirty="0"/>
              <a:t>([1,2,3,4,5,6,0,7,8], Goal, Results)</a:t>
            </a:r>
          </a:p>
          <a:p>
            <a:pPr lvl="2"/>
            <a:r>
              <a:rPr lang="en-IN" dirty="0"/>
              <a:t>  Output: result{path:[[1,2,3,4,5,6,0,7,8],[1,2,3,0,5,6,4,7,8],[0,2,3,1,5,6,4,7,8],[2,0,3,1,5,6,4,7,8],[2,5,3,1,0,6,4,7,8],[2,5,3,1,7,6,4,0,8],[2,5,3,1,7,6,0,4,8],[2,5,3,0,7,6,1,4,8],[0,5,3,2,7,6,1,4,8],[5,0,3,2,7,6,1,4,8],[5,7,3,2,0,6,1,4,8],[5,7,3,2,4,6,1,0,8],[5,7,3,2,4,6,0,1,8],[5,7,3,0,4,6,2,1,8],[0,7,3,5,4,6,2,1,8],[7,0,3,5,4,6,2,1,8],[7,4,3,5,0,6,2,1,8],[7,4,3,5,1,6,2,0,8],[7,4,3,5,1,6,0,2,8],[7,4,3,…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201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D728-078B-71EE-0D23-10535D1C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Queries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51C50-5851-6D0B-21AB-CC6D92146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dirty="0"/>
              <a:t>- Compare All: </a:t>
            </a:r>
            <a:r>
              <a:rPr lang="en-IN" dirty="0" err="1"/>
              <a:t>compare_strategies</a:t>
            </a:r>
            <a:r>
              <a:rPr lang="en-IN" dirty="0"/>
              <a:t>([1,2,3,4,5,6,0,7,8], Results)</a:t>
            </a:r>
          </a:p>
          <a:p>
            <a:pPr lvl="2"/>
            <a:r>
              <a:rPr lang="en-IN" dirty="0"/>
              <a:t>  Output: comparison{</a:t>
            </a:r>
            <a:r>
              <a:rPr lang="en-IN" dirty="0" err="1"/>
              <a:t>astar_manhattan:result</a:t>
            </a:r>
            <a:r>
              <a:rPr lang="en-IN" dirty="0"/>
              <a:t>{path:[[1,2,3,4,5,6,0,7,8],[1,2,3,4,5,6,7,0,8],[1,2,3,4,5,6,7,8,0]],</a:t>
            </a:r>
            <a:r>
              <a:rPr lang="en-IN" dirty="0" err="1"/>
              <a:t>stats:stats</a:t>
            </a:r>
            <a:r>
              <a:rPr lang="en-IN" dirty="0"/>
              <a:t>{expanded:6,moves:2,runtime_ms:0}},</a:t>
            </a:r>
            <a:r>
              <a:rPr lang="en-IN" dirty="0" err="1"/>
              <a:t>astar_misplaced:result</a:t>
            </a:r>
            <a:r>
              <a:rPr lang="en-IN" dirty="0"/>
              <a:t>{path:[[1,2,3,4,5,6,0,7,8],[1,2,3,4,5,6,7,0,8],[1,2,3,4,5,6,7,8,0]],</a:t>
            </a:r>
            <a:r>
              <a:rPr lang="en-IN" dirty="0" err="1"/>
              <a:t>stats:stats</a:t>
            </a:r>
            <a:r>
              <a:rPr lang="en-IN" dirty="0"/>
              <a:t>{expanded:6,moves:2,runtime_ms:0}},</a:t>
            </a:r>
            <a:r>
              <a:rPr lang="en-IN" dirty="0" err="1"/>
              <a:t>bfs:result</a:t>
            </a:r>
            <a:r>
              <a:rPr lang="en-IN" dirty="0"/>
              <a:t>{path:[[1,2,3,4,5,6,0,7,8],[1,2,3,4,5,6,7,0,8],[1,2,3,4,5,6,7,8,0]],</a:t>
            </a:r>
            <a:r>
              <a:rPr lang="en-IN" dirty="0" err="1"/>
              <a:t>stats:stats</a:t>
            </a:r>
            <a:r>
              <a:rPr lang="en-IN" dirty="0"/>
              <a:t>{expanded:19,moves:2,runtime</a:t>
            </a:r>
          </a:p>
          <a:p>
            <a:pPr lvl="1"/>
            <a:r>
              <a:rPr lang="en-IN" dirty="0"/>
              <a:t>- Heuristic: Manhattan distance: </a:t>
            </a:r>
            <a:r>
              <a:rPr lang="en-IN" dirty="0" err="1"/>
              <a:t>manhattan_distance</a:t>
            </a:r>
            <a:r>
              <a:rPr lang="en-IN" dirty="0"/>
              <a:t>([1,2,3,4,5,6,0,7,8], Results)</a:t>
            </a:r>
          </a:p>
          <a:p>
            <a:pPr lvl="2"/>
            <a:r>
              <a:rPr lang="en-IN" dirty="0"/>
              <a:t>  Output: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927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9D61-670F-EBBE-727A-F0DEBB4F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Queries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06226-70EB-FF36-2EAB-3EACF19BC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- Heuristic: Misplaced tiles: </a:t>
            </a:r>
            <a:r>
              <a:rPr lang="en-IN" dirty="0" err="1"/>
              <a:t>misplaced_tiles</a:t>
            </a:r>
            <a:r>
              <a:rPr lang="en-IN" dirty="0"/>
              <a:t>([1,2,3,4,5,6,0,7,8], Results)</a:t>
            </a:r>
          </a:p>
          <a:p>
            <a:pPr lvl="2"/>
            <a:r>
              <a:rPr lang="en-IN" dirty="0"/>
              <a:t>  Output: 2</a:t>
            </a:r>
          </a:p>
          <a:p>
            <a:pPr lvl="1"/>
            <a:r>
              <a:rPr lang="en-IN" dirty="0"/>
              <a:t>- Solvability check: </a:t>
            </a:r>
            <a:r>
              <a:rPr lang="en-IN" dirty="0" err="1"/>
              <a:t>solvable_pair</a:t>
            </a:r>
            <a:r>
              <a:rPr lang="en-IN" dirty="0"/>
              <a:t>([1,2,3,4,5,6,0,7,8],[1,2,3,4,5,6,7,8,0]), Results = solvable</a:t>
            </a:r>
          </a:p>
          <a:p>
            <a:pPr lvl="2"/>
            <a:r>
              <a:rPr lang="en-IN" dirty="0"/>
              <a:t>  Output: ERROR: ERROR: [Thread main] -g </a:t>
            </a:r>
            <a:r>
              <a:rPr lang="en-IN" dirty="0" err="1"/>
              <a:t>solvable_pair</a:t>
            </a:r>
            <a:r>
              <a:rPr lang="en-IN" dirty="0"/>
              <a:t>([1,2,3,4,5,6,0,7,8],[1,2,3,4,5,6,7,8,0]), Results = solvable, </a:t>
            </a:r>
            <a:r>
              <a:rPr lang="en-IN" dirty="0" err="1"/>
              <a:t>writeq</a:t>
            </a:r>
            <a:r>
              <a:rPr lang="en-IN" dirty="0"/>
              <a:t>(Results), </a:t>
            </a:r>
            <a:r>
              <a:rPr lang="en-IN" dirty="0" err="1"/>
              <a:t>nl</a:t>
            </a:r>
            <a:r>
              <a:rPr lang="en-IN" dirty="0"/>
              <a:t>, halt.: '&lt;meta-call&gt;'/1: Unknown procedure: </a:t>
            </a:r>
            <a:r>
              <a:rPr lang="en-IN" dirty="0" err="1"/>
              <a:t>solvable_pair</a:t>
            </a:r>
            <a:r>
              <a:rPr lang="en-IN" dirty="0"/>
              <a:t>/2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40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extensions</a:t>
            </a:r>
          </a:p>
          <a:p>
            <a:pPr lvl="1"/>
            <a:r>
              <a:t>- Add more heuristics (linear conflict, pattern DB)</a:t>
            </a:r>
          </a:p>
          <a:p>
            <a:pPr lvl="1"/>
            <a:r>
              <a:t>- Optimize performance and memory usage</a:t>
            </a:r>
          </a:p>
          <a:p>
            <a:pPr lvl="1"/>
            <a:r>
              <a:t>- Visualize solution steps and interactive UI</a:t>
            </a:r>
          </a:p>
          <a:p>
            <a:pPr lvl="1"/>
            <a:r>
              <a:t>- Benchmark against randomized test 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535858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456</TotalTime>
  <Words>658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8-Puzzle Intelligent Solver</vt:lpstr>
      <vt:lpstr>Introduction</vt:lpstr>
      <vt:lpstr>Template Design Overview</vt:lpstr>
      <vt:lpstr>Results (Example)</vt:lpstr>
      <vt:lpstr>Queries and Outputs</vt:lpstr>
      <vt:lpstr>Queries and Outputs</vt:lpstr>
      <vt:lpstr>Queries and Outputs</vt:lpstr>
      <vt:lpstr>Queries and Outputs</vt:lpstr>
      <vt:lpstr>Future Improvements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ASISH SHARMA</cp:lastModifiedBy>
  <cp:revision>3</cp:revision>
  <dcterms:created xsi:type="dcterms:W3CDTF">2013-01-27T09:14:16Z</dcterms:created>
  <dcterms:modified xsi:type="dcterms:W3CDTF">2026-06-08T15:10:36Z</dcterms:modified>
  <cp:category/>
</cp:coreProperties>
</file>